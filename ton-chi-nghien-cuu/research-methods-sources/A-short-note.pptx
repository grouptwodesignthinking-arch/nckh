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85" r:id="rId4"/>
    <p:sldId id="284" r:id="rId5"/>
    <p:sldId id="286" r:id="rId6"/>
    <p:sldId id="287" r:id="rId7"/>
    <p:sldId id="288" r:id="rId8"/>
    <p:sldId id="289" r:id="rId9"/>
    <p:sldId id="283" r:id="rId10"/>
  </p:sldIdLst>
  <p:sldSz cx="9144000" cy="6858000" type="screen4x3"/>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a:srgbClr val="FF99FF"/>
    <a:srgbClr val="FF00FF"/>
    <a:srgbClr val="FF33CC"/>
    <a:srgbClr val="00808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07" autoAdjust="0"/>
  </p:normalViewPr>
  <p:slideViewPr>
    <p:cSldViewPr>
      <p:cViewPr varScale="1">
        <p:scale>
          <a:sx n="53" d="100"/>
          <a:sy n="53" d="100"/>
        </p:scale>
        <p:origin x="1658" y="1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03A7E5-AE65-4E64-947A-04E0783CD87E}" type="datetimeFigureOut">
              <a:rPr lang="en-US" smtClean="0"/>
              <a:t>10-Aug-20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ACD166-BF2C-46DA-9440-8BDDB3B5B133}" type="slidenum">
              <a:rPr lang="en-US" smtClean="0"/>
              <a:t>‹#›</a:t>
            </a:fld>
            <a:endParaRPr lang="en-US"/>
          </a:p>
        </p:txBody>
      </p:sp>
    </p:spTree>
    <p:extLst>
      <p:ext uri="{BB962C8B-B14F-4D97-AF65-F5344CB8AC3E}">
        <p14:creationId xmlns:p14="http://schemas.microsoft.com/office/powerpoint/2010/main" val="10473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10-Aug-20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10-Aug-20</a:t>
            </a:fld>
            <a:endParaRPr lang="en-US" dirty="0"/>
          </a:p>
        </p:txBody>
      </p:sp>
      <p:sp>
        <p:nvSpPr>
          <p:cNvPr id="5" name="Footer Placeholder 4"/>
          <p:cNvSpPr>
            <a:spLocks noGrp="1"/>
          </p:cNvSpPr>
          <p:nvPr>
            <p:ph type="ftr" sz="quarter" idx="11"/>
          </p:nvPr>
        </p:nvSpPr>
        <p:spPr/>
        <p:txBody>
          <a:bodyPr/>
          <a:lstStyle/>
          <a:p>
            <a:r>
              <a:rPr lang="en-US" dirty="0"/>
              <a:t>Le Hoang Long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10-Aug-20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10-Aug-20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10-Aug-20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10-Aug-20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10-Aug-20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10-Aug-20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10-Aug-20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10-Aug-20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10-Aug-20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10-Aug-20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copus.com/search/form.uri?display=basic" TargetMode="External"/><Relationship Id="rId2" Type="http://schemas.openxmlformats.org/officeDocument/2006/relationships/hyperlink" Target="https://scholar.google.com/" TargetMode="External"/><Relationship Id="rId1" Type="http://schemas.openxmlformats.org/officeDocument/2006/relationships/slideLayout" Target="../slideLayouts/slideLayout2.xml"/><Relationship Id="rId4" Type="http://schemas.openxmlformats.org/officeDocument/2006/relationships/hyperlink" Target="http://www.webofknowledge.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cimagojr.com/"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gen.lib.rus.ec/" TargetMode="External"/><Relationship Id="rId2" Type="http://schemas.openxmlformats.org/officeDocument/2006/relationships/hyperlink" Target="https://sci-hub.tw/"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2133600"/>
            <a:ext cx="7543800" cy="934304"/>
          </a:xfrm>
        </p:spPr>
        <p:txBody>
          <a:bodyPr>
            <a:noAutofit/>
            <a:scene3d>
              <a:camera prst="orthographicFront"/>
              <a:lightRig rig="soft" dir="t">
                <a:rot lat="0" lon="0" rev="15600000"/>
              </a:lightRig>
            </a:scene3d>
            <a:sp3d extrusionH="57150" prstMaterial="softEdge">
              <a:bevelT w="25400" h="38100"/>
            </a:sp3d>
          </a:bodyPr>
          <a:lstStyle/>
          <a:p>
            <a:r>
              <a:rPr lang="en-US" sz="4500" b="1" dirty="0">
                <a:ln/>
                <a:solidFill>
                  <a:schemeClr val="accent4"/>
                </a:solidFill>
              </a:rPr>
              <a:t>A short note</a:t>
            </a:r>
          </a:p>
        </p:txBody>
      </p:sp>
      <p:sp>
        <p:nvSpPr>
          <p:cNvPr id="6" name="Title 1"/>
          <p:cNvSpPr>
            <a:spLocks noGrp="1"/>
          </p:cNvSpPr>
          <p:nvPr/>
        </p:nvSpPr>
        <p:spPr>
          <a:xfrm>
            <a:off x="304800" y="914400"/>
            <a:ext cx="8305800" cy="1470025"/>
          </a:xfrm>
          <a:prstGeom prst="rect">
            <a:avLst/>
          </a:prstGeom>
        </p:spPr>
        <p:txBody>
          <a:bodyPr vert="horz" lIns="91440" tIns="45720" rIns="91440" bIns="45720" rtlCol="0" anchor="ctr">
            <a:normAutofit/>
            <a:scene3d>
              <a:camera prst="orthographicFront"/>
              <a:lightRig rig="soft" dir="t">
                <a:rot lat="0" lon="0" rev="15600000"/>
              </a:lightRig>
            </a:scene3d>
            <a:sp3d extrusionH="57150" prstMaterial="softEdge">
              <a:bevelT w="25400" h="38100"/>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500" b="1" dirty="0">
                <a:ln/>
                <a:solidFill>
                  <a:schemeClr val="accent4"/>
                </a:solidFill>
              </a:rPr>
              <a:t>RESEARCH METHODOLOGY</a:t>
            </a:r>
          </a:p>
        </p:txBody>
      </p:sp>
    </p:spTree>
    <p:extLst>
      <p:ext uri="{BB962C8B-B14F-4D97-AF65-F5344CB8AC3E}">
        <p14:creationId xmlns:p14="http://schemas.microsoft.com/office/powerpoint/2010/main" val="860487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47800" y="838200"/>
            <a:ext cx="6017749" cy="46166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US" sz="2400" b="1" dirty="0">
                <a:ln/>
                <a:solidFill>
                  <a:schemeClr val="accent4"/>
                </a:solidFill>
                <a:latin typeface="Times New Roman" pitchFamily="18" charset="0"/>
                <a:cs typeface="Times New Roman" pitchFamily="18" charset="0"/>
              </a:rPr>
              <a:t>SEARCH TOOLS</a:t>
            </a:r>
          </a:p>
        </p:txBody>
      </p:sp>
      <p:sp>
        <p:nvSpPr>
          <p:cNvPr id="6" name="TextBox 5"/>
          <p:cNvSpPr txBox="1"/>
          <p:nvPr/>
        </p:nvSpPr>
        <p:spPr>
          <a:xfrm>
            <a:off x="228600" y="1676400"/>
            <a:ext cx="8656535"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hlinkClick r:id="rId2"/>
              </a:rPr>
              <a:t>https://scholar.google.com/</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hlinkClick r:id="rId3"/>
              </a:rPr>
              <a:t>https://www.scopus.com/search/form.uri?display=basic</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itchFamily="18" charset="0"/>
                <a:cs typeface="Times New Roman" pitchFamily="18" charset="0"/>
                <a:hlinkClick r:id="rId4"/>
              </a:rPr>
              <a:t>www.webofknowledge.com</a:t>
            </a:r>
            <a:r>
              <a:rPr lang="en-US" sz="2800" dirty="0">
                <a:latin typeface="Times New Roman" pitchFamily="18" charset="0"/>
                <a:cs typeface="Times New Roman" pitchFamily="18" charset="0"/>
              </a:rPr>
              <a:t>   </a:t>
            </a:r>
          </a:p>
        </p:txBody>
      </p:sp>
    </p:spTree>
    <p:extLst>
      <p:ext uri="{BB962C8B-B14F-4D97-AF65-F5344CB8AC3E}">
        <p14:creationId xmlns:p14="http://schemas.microsoft.com/office/powerpoint/2010/main" val="367300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71600" y="152400"/>
            <a:ext cx="6017749" cy="46166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AU" sz="2400" b="1" dirty="0">
                <a:ln/>
                <a:solidFill>
                  <a:schemeClr val="accent4"/>
                </a:solidFill>
                <a:latin typeface="Arial" panose="020B0604020202020204" pitchFamily="34" charset="0"/>
                <a:cs typeface="Times New Roman" pitchFamily="18" charset="0"/>
              </a:rPr>
              <a:t>Tips &amp; tricks for researching</a:t>
            </a:r>
            <a:endParaRPr lang="en-US" sz="2400" b="1" dirty="0">
              <a:ln/>
              <a:solidFill>
                <a:schemeClr val="accent4"/>
              </a:solidFill>
              <a:latin typeface="Arial" panose="020B0604020202020204" pitchFamily="34" charset="0"/>
              <a:cs typeface="Times New Roman" pitchFamily="18" charset="0"/>
            </a:endParaRPr>
          </a:p>
        </p:txBody>
      </p:sp>
      <p:sp>
        <p:nvSpPr>
          <p:cNvPr id="6" name="TextBox 5"/>
          <p:cNvSpPr txBox="1"/>
          <p:nvPr/>
        </p:nvSpPr>
        <p:spPr>
          <a:xfrm>
            <a:off x="243732" y="805555"/>
            <a:ext cx="8656535" cy="5909310"/>
          </a:xfrm>
          <a:prstGeom prst="rect">
            <a:avLst/>
          </a:prstGeom>
          <a:noFill/>
        </p:spPr>
        <p:txBody>
          <a:bodyPr wrap="square" rtlCol="0">
            <a:spAutoFit/>
          </a:bodyPr>
          <a:lstStyle/>
          <a:p>
            <a:r>
              <a:rPr lang="en-AU" sz="2100" dirty="0"/>
              <a:t>Use </a:t>
            </a:r>
            <a:r>
              <a:rPr lang="en-AU" sz="2100" b="1" dirty="0"/>
              <a:t>Google Scholar</a:t>
            </a:r>
            <a:r>
              <a:rPr lang="en-AU" sz="2100" dirty="0"/>
              <a:t> instead of Google.</a:t>
            </a:r>
            <a:endParaRPr lang="en-US" sz="2100" dirty="0"/>
          </a:p>
          <a:p>
            <a:pPr lvl="0"/>
            <a:r>
              <a:rPr lang="en-AU" sz="2100" dirty="0"/>
              <a:t>Use the </a:t>
            </a:r>
            <a:r>
              <a:rPr lang="en-AU" sz="2100" b="1" dirty="0"/>
              <a:t>Hash for truncation</a:t>
            </a:r>
            <a:r>
              <a:rPr lang="en-AU" sz="2100" dirty="0"/>
              <a:t> </a:t>
            </a:r>
            <a:r>
              <a:rPr lang="en-AU" sz="2100" dirty="0" err="1"/>
              <a:t>ie</a:t>
            </a:r>
            <a:r>
              <a:rPr lang="en-AU" sz="2100" dirty="0"/>
              <a:t>. </a:t>
            </a:r>
            <a:r>
              <a:rPr lang="en-AU" sz="2100" dirty="0" err="1"/>
              <a:t>Organi</a:t>
            </a:r>
            <a:r>
              <a:rPr lang="en-AU" sz="2100" dirty="0"/>
              <a:t># could give you: organisation, organization, organisational, organise, organises – all alternate endings</a:t>
            </a:r>
            <a:endParaRPr lang="en-US" sz="2100" dirty="0"/>
          </a:p>
          <a:p>
            <a:pPr lvl="0"/>
            <a:r>
              <a:rPr lang="en-AU" sz="2100" dirty="0"/>
              <a:t>Searching for a phrase? Use </a:t>
            </a:r>
            <a:r>
              <a:rPr lang="en-AU" sz="2100" b="1" dirty="0"/>
              <a:t>quotation marks</a:t>
            </a:r>
            <a:r>
              <a:rPr lang="en-AU" sz="2100" dirty="0"/>
              <a:t> </a:t>
            </a:r>
            <a:r>
              <a:rPr lang="en-AU" sz="2100" dirty="0" err="1"/>
              <a:t>ie</a:t>
            </a:r>
            <a:r>
              <a:rPr lang="en-AU" sz="2100" dirty="0"/>
              <a:t> “port authority”</a:t>
            </a:r>
            <a:endParaRPr lang="en-US" sz="2100" dirty="0"/>
          </a:p>
          <a:p>
            <a:pPr lvl="0"/>
            <a:r>
              <a:rPr lang="en-AU" sz="2100" dirty="0"/>
              <a:t>Start with </a:t>
            </a:r>
            <a:r>
              <a:rPr lang="en-AU" sz="2100" b="1" dirty="0"/>
              <a:t>singular term</a:t>
            </a:r>
            <a:r>
              <a:rPr lang="en-AU" sz="2100" dirty="0"/>
              <a:t> </a:t>
            </a:r>
            <a:r>
              <a:rPr lang="en-AU" sz="2100" dirty="0" err="1"/>
              <a:t>ie</a:t>
            </a:r>
            <a:r>
              <a:rPr lang="en-AU" sz="2100" dirty="0"/>
              <a:t> “port authority” rather than “port authorities”</a:t>
            </a:r>
            <a:endParaRPr lang="en-US" sz="2100" dirty="0"/>
          </a:p>
          <a:p>
            <a:pPr lvl="0"/>
            <a:r>
              <a:rPr lang="en-AU" sz="2100" b="1" dirty="0">
                <a:solidFill>
                  <a:srgbClr val="FF0000"/>
                </a:solidFill>
              </a:rPr>
              <a:t>Brainstorm for Keywords</a:t>
            </a:r>
            <a:r>
              <a:rPr lang="en-AU" sz="2100" dirty="0"/>
              <a:t> (to find synonyms use a thesaurus or </a:t>
            </a:r>
            <a:r>
              <a:rPr lang="en-AU" sz="2100" b="1" dirty="0"/>
              <a:t>synonym.com</a:t>
            </a:r>
            <a:r>
              <a:rPr lang="en-AU" sz="2100" dirty="0"/>
              <a:t>)</a:t>
            </a:r>
            <a:endParaRPr lang="en-US" sz="2100" dirty="0"/>
          </a:p>
          <a:p>
            <a:pPr lvl="0"/>
            <a:r>
              <a:rPr lang="en-AU" sz="2100" dirty="0"/>
              <a:t>Think about your choice of </a:t>
            </a:r>
            <a:r>
              <a:rPr lang="en-AU" sz="2100" b="1" dirty="0"/>
              <a:t>terminology </a:t>
            </a:r>
            <a:r>
              <a:rPr lang="en-AU" sz="2100" dirty="0"/>
              <a:t>– Geographical influences </a:t>
            </a:r>
            <a:r>
              <a:rPr lang="en-AU" sz="2100" dirty="0" err="1"/>
              <a:t>ie</a:t>
            </a:r>
            <a:r>
              <a:rPr lang="en-AU" sz="2100" dirty="0"/>
              <a:t>. Mobile phone or cell / cellular phone (synonyms)</a:t>
            </a:r>
          </a:p>
          <a:p>
            <a:pPr lvl="0"/>
            <a:r>
              <a:rPr lang="en-AU" sz="2100" dirty="0"/>
              <a:t>Be </a:t>
            </a:r>
            <a:r>
              <a:rPr lang="en-AU" sz="2100" b="1" dirty="0"/>
              <a:t>flexible</a:t>
            </a:r>
            <a:r>
              <a:rPr lang="en-AU" sz="2100" dirty="0"/>
              <a:t> with your searching – if one combination of keywords doesn’t work in one databases </a:t>
            </a:r>
            <a:r>
              <a:rPr lang="en-AU" sz="2100" b="1" dirty="0"/>
              <a:t>try another combination</a:t>
            </a:r>
            <a:r>
              <a:rPr lang="en-AU" sz="2100" dirty="0"/>
              <a:t> or database.  </a:t>
            </a:r>
            <a:endParaRPr lang="en-US" sz="2100" dirty="0"/>
          </a:p>
          <a:p>
            <a:pPr lvl="0"/>
            <a:r>
              <a:rPr lang="en-AU" sz="2100" b="1" dirty="0"/>
              <a:t>Follow the research</a:t>
            </a:r>
            <a:r>
              <a:rPr lang="en-AU" sz="2100" dirty="0"/>
              <a:t>. Trace back and Trace forward.  Once you find a great article, use the hyperlinks in the article while it’s in the databases to find other articles by the same author, make a note of the keywords attached to the article, use the reference list (or bibliography) to find other articles on the same topics, use the cited by option to find articles that have cited your article. </a:t>
            </a:r>
          </a:p>
          <a:p>
            <a:pPr lvl="0"/>
            <a:r>
              <a:rPr lang="en-AU" sz="2100" b="1" dirty="0"/>
              <a:t>Check the journal rank/# citations/publication year</a:t>
            </a:r>
            <a:r>
              <a:rPr lang="en-AU" sz="2100" dirty="0"/>
              <a:t> before read it. It really helps to save your time!</a:t>
            </a:r>
            <a:endParaRPr lang="en-US" sz="2100" dirty="0"/>
          </a:p>
        </p:txBody>
      </p:sp>
    </p:spTree>
    <p:extLst>
      <p:ext uri="{BB962C8B-B14F-4D97-AF65-F5344CB8AC3E}">
        <p14:creationId xmlns:p14="http://schemas.microsoft.com/office/powerpoint/2010/main" val="158564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71600" y="152400"/>
            <a:ext cx="6017749" cy="46166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AU" sz="2400" b="1" dirty="0">
                <a:ln/>
                <a:solidFill>
                  <a:schemeClr val="accent4"/>
                </a:solidFill>
                <a:latin typeface="Arial" panose="020B0604020202020204" pitchFamily="34" charset="0"/>
                <a:cs typeface="Times New Roman" pitchFamily="18" charset="0"/>
              </a:rPr>
              <a:t>Criteria when selecting the readings</a:t>
            </a:r>
            <a:endParaRPr lang="en-US" sz="3200" b="1" dirty="0">
              <a:ln/>
              <a:solidFill>
                <a:schemeClr val="accent4"/>
              </a:solidFill>
              <a:latin typeface="Times New Roman" pitchFamily="18" charset="0"/>
              <a:cs typeface="Times New Roman" pitchFamily="18" charset="0"/>
            </a:endParaRPr>
          </a:p>
        </p:txBody>
      </p:sp>
      <p:sp>
        <p:nvSpPr>
          <p:cNvPr id="6" name="TextBox 5"/>
          <p:cNvSpPr txBox="1"/>
          <p:nvPr/>
        </p:nvSpPr>
        <p:spPr>
          <a:xfrm>
            <a:off x="243732" y="579358"/>
            <a:ext cx="8656535" cy="4467057"/>
          </a:xfrm>
          <a:prstGeom prst="rect">
            <a:avLst/>
          </a:prstGeom>
          <a:noFill/>
        </p:spPr>
        <p:txBody>
          <a:bodyPr wrap="square" rtlCol="0">
            <a:spAutoFit/>
          </a:bodyPr>
          <a:lstStyle/>
          <a:p>
            <a:pPr>
              <a:lnSpc>
                <a:spcPct val="150000"/>
              </a:lnSpc>
            </a:pPr>
            <a:r>
              <a:rPr lang="en-US" sz="2400" b="1" dirty="0"/>
              <a:t>Time</a:t>
            </a:r>
            <a:r>
              <a:rPr lang="en-US" sz="2400" dirty="0"/>
              <a:t>: Empirical studies should be within 3-5 years. Theoretical studies has no limitation in publication time (the older ones normally are better).</a:t>
            </a:r>
          </a:p>
          <a:p>
            <a:pPr>
              <a:lnSpc>
                <a:spcPct val="150000"/>
              </a:lnSpc>
            </a:pPr>
            <a:r>
              <a:rPr lang="en-US" sz="2400" b="1" dirty="0"/>
              <a:t>Journal ranking</a:t>
            </a:r>
            <a:r>
              <a:rPr lang="en-US" sz="2400" dirty="0"/>
              <a:t>: Please take your time to read articles published in top journals (Q1, higher IF, higher h-index, journals in a shortlist, A* and A).</a:t>
            </a:r>
          </a:p>
          <a:p>
            <a:pPr>
              <a:lnSpc>
                <a:spcPct val="150000"/>
              </a:lnSpc>
            </a:pPr>
            <a:r>
              <a:rPr lang="en-US" sz="2400" b="1" dirty="0"/>
              <a:t>Number of citations</a:t>
            </a:r>
            <a:r>
              <a:rPr lang="en-US" sz="2400" dirty="0"/>
              <a:t>: a signal for the impact of the article. It can be few if the article has been published very recently.</a:t>
            </a:r>
          </a:p>
        </p:txBody>
      </p:sp>
    </p:spTree>
    <p:extLst>
      <p:ext uri="{BB962C8B-B14F-4D97-AF65-F5344CB8AC3E}">
        <p14:creationId xmlns:p14="http://schemas.microsoft.com/office/powerpoint/2010/main" val="320130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71600" y="152400"/>
            <a:ext cx="6017749" cy="46166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AU" sz="2400" b="1" dirty="0">
                <a:ln/>
                <a:solidFill>
                  <a:schemeClr val="accent4"/>
                </a:solidFill>
                <a:latin typeface="Arial" panose="020B0604020202020204" pitchFamily="34" charset="0"/>
                <a:cs typeface="Times New Roman" pitchFamily="18" charset="0"/>
              </a:rPr>
              <a:t>Research impact</a:t>
            </a:r>
            <a:endParaRPr lang="en-US" sz="3200" b="1" dirty="0">
              <a:ln/>
              <a:solidFill>
                <a:schemeClr val="accent4"/>
              </a:solidFill>
              <a:latin typeface="Times New Roman" pitchFamily="18" charset="0"/>
              <a:cs typeface="Times New Roman" pitchFamily="18" charset="0"/>
            </a:endParaRPr>
          </a:p>
        </p:txBody>
      </p:sp>
      <p:sp>
        <p:nvSpPr>
          <p:cNvPr id="6" name="TextBox 5"/>
          <p:cNvSpPr txBox="1"/>
          <p:nvPr/>
        </p:nvSpPr>
        <p:spPr>
          <a:xfrm>
            <a:off x="243732" y="579358"/>
            <a:ext cx="8656535" cy="2062103"/>
          </a:xfrm>
          <a:prstGeom prst="rect">
            <a:avLst/>
          </a:prstGeom>
          <a:noFill/>
        </p:spPr>
        <p:txBody>
          <a:bodyPr wrap="square" rtlCol="0">
            <a:spAutoFit/>
          </a:bodyPr>
          <a:lstStyle/>
          <a:p>
            <a:r>
              <a:rPr lang="en-US" sz="2800" dirty="0"/>
              <a:t>Research impact is increasingly important in assessing research quality.</a:t>
            </a:r>
          </a:p>
          <a:p>
            <a:pPr marL="987552" lvl="1" indent="-457200">
              <a:buFont typeface="+mj-lt"/>
              <a:buAutoNum type="arabicPeriod"/>
            </a:pPr>
            <a:r>
              <a:rPr lang="en-US" sz="2400" b="1" dirty="0"/>
              <a:t>Article Citation Count</a:t>
            </a:r>
            <a:endParaRPr lang="en-US" sz="2400" dirty="0"/>
          </a:p>
          <a:p>
            <a:pPr marL="987552" lvl="1" indent="-457200">
              <a:buFont typeface="+mj-lt"/>
              <a:buAutoNum type="arabicPeriod"/>
            </a:pPr>
            <a:r>
              <a:rPr lang="en-US" sz="2400" b="1" dirty="0"/>
              <a:t>Journal Impact Factor</a:t>
            </a:r>
          </a:p>
          <a:p>
            <a:pPr marL="987552" lvl="1" indent="-457200">
              <a:buFont typeface="+mj-lt"/>
              <a:buAutoNum type="arabicPeriod"/>
            </a:pPr>
            <a:r>
              <a:rPr lang="en-US" sz="2400" b="1" dirty="0"/>
              <a:t>Journal Ranking Lists</a:t>
            </a:r>
          </a:p>
        </p:txBody>
      </p:sp>
      <p:pic>
        <p:nvPicPr>
          <p:cNvPr id="4" name="Picture 3">
            <a:extLst>
              <a:ext uri="{FF2B5EF4-FFF2-40B4-BE49-F238E27FC236}">
                <a16:creationId xmlns:a16="http://schemas.microsoft.com/office/drawing/2014/main" id="{2B72A38D-DEC6-4AAE-88C5-B6574225D49D}"/>
              </a:ext>
            </a:extLst>
          </p:cNvPr>
          <p:cNvPicPr>
            <a:picLocks noChangeAspect="1"/>
          </p:cNvPicPr>
          <p:nvPr/>
        </p:nvPicPr>
        <p:blipFill>
          <a:blip r:embed="rId2"/>
          <a:stretch>
            <a:fillRect/>
          </a:stretch>
        </p:blipFill>
        <p:spPr>
          <a:xfrm>
            <a:off x="457200" y="2895600"/>
            <a:ext cx="7137600" cy="3027119"/>
          </a:xfrm>
          <a:prstGeom prst="rect">
            <a:avLst/>
          </a:prstGeom>
        </p:spPr>
      </p:pic>
      <p:sp>
        <p:nvSpPr>
          <p:cNvPr id="7" name="TextBox 6">
            <a:extLst>
              <a:ext uri="{FF2B5EF4-FFF2-40B4-BE49-F238E27FC236}">
                <a16:creationId xmlns:a16="http://schemas.microsoft.com/office/drawing/2014/main" id="{32DA3AC0-4BC2-41F5-A708-08CA81C2AC33}"/>
              </a:ext>
            </a:extLst>
          </p:cNvPr>
          <p:cNvSpPr txBox="1"/>
          <p:nvPr/>
        </p:nvSpPr>
        <p:spPr>
          <a:xfrm>
            <a:off x="762000" y="6019800"/>
            <a:ext cx="4572000" cy="369332"/>
          </a:xfrm>
          <a:prstGeom prst="rect">
            <a:avLst/>
          </a:prstGeom>
          <a:noFill/>
        </p:spPr>
        <p:txBody>
          <a:bodyPr wrap="square">
            <a:spAutoFit/>
          </a:bodyPr>
          <a:lstStyle/>
          <a:p>
            <a:pPr marL="530352" lvl="1"/>
            <a:r>
              <a:rPr lang="en-US" sz="1800" b="1" dirty="0"/>
              <a:t>Article Citation Count</a:t>
            </a:r>
            <a:endParaRPr lang="en-US" sz="1800" dirty="0"/>
          </a:p>
        </p:txBody>
      </p:sp>
    </p:spTree>
    <p:extLst>
      <p:ext uri="{BB962C8B-B14F-4D97-AF65-F5344CB8AC3E}">
        <p14:creationId xmlns:p14="http://schemas.microsoft.com/office/powerpoint/2010/main" val="268064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71600" y="152400"/>
            <a:ext cx="6017749" cy="46166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AU" sz="2400" b="1" dirty="0">
                <a:ln/>
                <a:solidFill>
                  <a:schemeClr val="accent4"/>
                </a:solidFill>
                <a:latin typeface="Arial" panose="020B0604020202020204" pitchFamily="34" charset="0"/>
                <a:cs typeface="Times New Roman" pitchFamily="18" charset="0"/>
              </a:rPr>
              <a:t>Research impact</a:t>
            </a:r>
            <a:endParaRPr lang="en-US" sz="3200" b="1" dirty="0">
              <a:ln/>
              <a:solidFill>
                <a:schemeClr val="accent4"/>
              </a:solidFill>
              <a:latin typeface="Times New Roman" pitchFamily="18" charset="0"/>
              <a:cs typeface="Times New Roman" pitchFamily="18" charset="0"/>
            </a:endParaRPr>
          </a:p>
        </p:txBody>
      </p:sp>
      <p:sp>
        <p:nvSpPr>
          <p:cNvPr id="6" name="TextBox 5"/>
          <p:cNvSpPr txBox="1"/>
          <p:nvPr/>
        </p:nvSpPr>
        <p:spPr>
          <a:xfrm>
            <a:off x="243732" y="579358"/>
            <a:ext cx="8656535" cy="461665"/>
          </a:xfrm>
          <a:prstGeom prst="rect">
            <a:avLst/>
          </a:prstGeom>
          <a:noFill/>
        </p:spPr>
        <p:txBody>
          <a:bodyPr wrap="square" rtlCol="0">
            <a:spAutoFit/>
          </a:bodyPr>
          <a:lstStyle/>
          <a:p>
            <a:pPr marL="530352" lvl="1"/>
            <a:r>
              <a:rPr lang="en-US" sz="2400" b="1" dirty="0"/>
              <a:t>Journal Impact Factor</a:t>
            </a:r>
          </a:p>
        </p:txBody>
      </p:sp>
      <p:pic>
        <p:nvPicPr>
          <p:cNvPr id="5" name="Picture 4">
            <a:extLst>
              <a:ext uri="{FF2B5EF4-FFF2-40B4-BE49-F238E27FC236}">
                <a16:creationId xmlns:a16="http://schemas.microsoft.com/office/drawing/2014/main" id="{A990F89A-4793-4286-B876-C6352F19980F}"/>
              </a:ext>
            </a:extLst>
          </p:cNvPr>
          <p:cNvPicPr>
            <a:picLocks noChangeAspect="1"/>
          </p:cNvPicPr>
          <p:nvPr/>
        </p:nvPicPr>
        <p:blipFill>
          <a:blip r:embed="rId2"/>
          <a:stretch>
            <a:fillRect/>
          </a:stretch>
        </p:blipFill>
        <p:spPr>
          <a:xfrm>
            <a:off x="76200" y="1143000"/>
            <a:ext cx="8991600" cy="3740505"/>
          </a:xfrm>
          <a:prstGeom prst="rect">
            <a:avLst/>
          </a:prstGeom>
        </p:spPr>
      </p:pic>
      <p:sp>
        <p:nvSpPr>
          <p:cNvPr id="8" name="TextBox 7">
            <a:extLst>
              <a:ext uri="{FF2B5EF4-FFF2-40B4-BE49-F238E27FC236}">
                <a16:creationId xmlns:a16="http://schemas.microsoft.com/office/drawing/2014/main" id="{8F1DFA5C-0A56-41A3-9127-E64E6B290367}"/>
              </a:ext>
            </a:extLst>
          </p:cNvPr>
          <p:cNvSpPr txBox="1"/>
          <p:nvPr/>
        </p:nvSpPr>
        <p:spPr>
          <a:xfrm>
            <a:off x="-228600" y="5114835"/>
            <a:ext cx="8656535" cy="1200329"/>
          </a:xfrm>
          <a:prstGeom prst="rect">
            <a:avLst/>
          </a:prstGeom>
          <a:noFill/>
        </p:spPr>
        <p:txBody>
          <a:bodyPr wrap="square" rtlCol="0">
            <a:spAutoFit/>
          </a:bodyPr>
          <a:lstStyle/>
          <a:p>
            <a:pPr marL="530352" lvl="1"/>
            <a:r>
              <a:rPr lang="en-US" sz="2400" dirty="0"/>
              <a:t>Check the Journal Impact Factor:</a:t>
            </a:r>
          </a:p>
          <a:p>
            <a:pPr marL="873252" lvl="1" indent="-342900">
              <a:buFontTx/>
              <a:buChar char="-"/>
            </a:pPr>
            <a:r>
              <a:rPr lang="en-US" sz="2400" dirty="0"/>
              <a:t>Google Journal name + “impact factor”</a:t>
            </a:r>
          </a:p>
          <a:p>
            <a:pPr marL="873252" lvl="1" indent="-342900">
              <a:buFontTx/>
              <a:buChar char="-"/>
            </a:pPr>
            <a:r>
              <a:rPr lang="en-US" sz="2400" dirty="0"/>
              <a:t>Go to journal website, see the journal information</a:t>
            </a:r>
          </a:p>
        </p:txBody>
      </p:sp>
    </p:spTree>
    <p:extLst>
      <p:ext uri="{BB962C8B-B14F-4D97-AF65-F5344CB8AC3E}">
        <p14:creationId xmlns:p14="http://schemas.microsoft.com/office/powerpoint/2010/main" val="42953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71600" y="152400"/>
            <a:ext cx="6017749" cy="46166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ctr"/>
            <a:r>
              <a:rPr lang="en-AU" sz="2400" b="1" dirty="0">
                <a:ln/>
                <a:solidFill>
                  <a:schemeClr val="accent4"/>
                </a:solidFill>
                <a:latin typeface="Arial" panose="020B0604020202020204" pitchFamily="34" charset="0"/>
                <a:cs typeface="Times New Roman" pitchFamily="18" charset="0"/>
              </a:rPr>
              <a:t>Research impact</a:t>
            </a:r>
            <a:endParaRPr lang="en-US" sz="3200" b="1" dirty="0">
              <a:ln/>
              <a:solidFill>
                <a:schemeClr val="accent4"/>
              </a:solidFill>
              <a:latin typeface="Times New Roman" pitchFamily="18" charset="0"/>
              <a:cs typeface="Times New Roman" pitchFamily="18" charset="0"/>
            </a:endParaRPr>
          </a:p>
        </p:txBody>
      </p:sp>
      <p:sp>
        <p:nvSpPr>
          <p:cNvPr id="6" name="TextBox 5"/>
          <p:cNvSpPr txBox="1"/>
          <p:nvPr/>
        </p:nvSpPr>
        <p:spPr>
          <a:xfrm>
            <a:off x="243732" y="579358"/>
            <a:ext cx="8656535" cy="1569660"/>
          </a:xfrm>
          <a:prstGeom prst="rect">
            <a:avLst/>
          </a:prstGeom>
          <a:noFill/>
        </p:spPr>
        <p:txBody>
          <a:bodyPr wrap="square" rtlCol="0">
            <a:spAutoFit/>
          </a:bodyPr>
          <a:lstStyle/>
          <a:p>
            <a:pPr marL="530352" lvl="1"/>
            <a:r>
              <a:rPr lang="en-US" sz="2400" b="1" dirty="0"/>
              <a:t>Journal Ranking Lists: </a:t>
            </a:r>
          </a:p>
          <a:p>
            <a:pPr marL="530352" lvl="1"/>
            <a:r>
              <a:rPr lang="en-US" sz="2400" dirty="0"/>
              <a:t>- Scopus database: </a:t>
            </a:r>
            <a:r>
              <a:rPr lang="en-US" sz="2400" dirty="0">
                <a:hlinkClick r:id="rId2"/>
              </a:rPr>
              <a:t>https://www.scimagojr.com/</a:t>
            </a:r>
            <a:endParaRPr lang="en-US" sz="2400" dirty="0"/>
          </a:p>
          <a:p>
            <a:pPr marL="530352" lvl="1"/>
            <a:r>
              <a:rPr lang="en-US" sz="2400" dirty="0"/>
              <a:t>- Search journal name (be careful because there are several journals with similarity in parts of the name</a:t>
            </a:r>
          </a:p>
        </p:txBody>
      </p:sp>
      <p:pic>
        <p:nvPicPr>
          <p:cNvPr id="4" name="Picture 3" descr="A screenshot of a social media post&#10;&#10;Description automatically generated">
            <a:extLst>
              <a:ext uri="{FF2B5EF4-FFF2-40B4-BE49-F238E27FC236}">
                <a16:creationId xmlns:a16="http://schemas.microsoft.com/office/drawing/2014/main" id="{5AD950CD-EA0F-4282-AAAE-71E78BE8D4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998" y="4900427"/>
            <a:ext cx="4619401" cy="1854802"/>
          </a:xfrm>
          <a:prstGeom prst="rect">
            <a:avLst/>
          </a:prstGeom>
        </p:spPr>
      </p:pic>
      <p:pic>
        <p:nvPicPr>
          <p:cNvPr id="9" name="Picture 8" descr="A screenshot of a social media post&#10;&#10;Description automatically generated">
            <a:extLst>
              <a:ext uri="{FF2B5EF4-FFF2-40B4-BE49-F238E27FC236}">
                <a16:creationId xmlns:a16="http://schemas.microsoft.com/office/drawing/2014/main" id="{F61ACDBC-E6C4-4DD5-892A-670BCD712E1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00" y="2189543"/>
            <a:ext cx="5181600" cy="2684993"/>
          </a:xfrm>
          <a:prstGeom prst="rect">
            <a:avLst/>
          </a:prstGeom>
        </p:spPr>
      </p:pic>
      <p:sp>
        <p:nvSpPr>
          <p:cNvPr id="11" name="TextBox 10">
            <a:extLst>
              <a:ext uri="{FF2B5EF4-FFF2-40B4-BE49-F238E27FC236}">
                <a16:creationId xmlns:a16="http://schemas.microsoft.com/office/drawing/2014/main" id="{49D60EF7-0929-4DFA-8086-E3E3A40FC6E4}"/>
              </a:ext>
            </a:extLst>
          </p:cNvPr>
          <p:cNvSpPr txBox="1"/>
          <p:nvPr/>
        </p:nvSpPr>
        <p:spPr>
          <a:xfrm>
            <a:off x="5623667" y="3442200"/>
            <a:ext cx="3276600" cy="1200329"/>
          </a:xfrm>
          <a:prstGeom prst="rect">
            <a:avLst/>
          </a:prstGeom>
          <a:noFill/>
        </p:spPr>
        <p:txBody>
          <a:bodyPr wrap="square">
            <a:spAutoFit/>
          </a:bodyPr>
          <a:lstStyle/>
          <a:p>
            <a:r>
              <a:rPr lang="en-US" sz="1800" dirty="0"/>
              <a:t>Check h-index (depends on the discipline)</a:t>
            </a:r>
          </a:p>
          <a:p>
            <a:r>
              <a:rPr lang="en-US" dirty="0"/>
              <a:t>Check the Quartile: Q1 with green color is better</a:t>
            </a:r>
          </a:p>
        </p:txBody>
      </p:sp>
    </p:spTree>
    <p:extLst>
      <p:ext uri="{BB962C8B-B14F-4D97-AF65-F5344CB8AC3E}">
        <p14:creationId xmlns:p14="http://schemas.microsoft.com/office/powerpoint/2010/main" val="419815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71600" y="152400"/>
            <a:ext cx="6017749" cy="461665"/>
          </a:xfrm>
          <a:prstGeom prst="rect">
            <a:avLst/>
          </a:prstGeom>
          <a:noFill/>
        </p:spPr>
        <p:txBody>
          <a:bodyPr wrap="square" rtlCol="0">
            <a:spAutoFit/>
          </a:bodyPr>
          <a:lstStyle/>
          <a:p>
            <a:pPr algn="ctr"/>
            <a:r>
              <a:rPr lang="en-AU" sz="2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anose="020B0604020202020204" pitchFamily="34" charset="0"/>
                <a:cs typeface="Times New Roman" pitchFamily="18" charset="0"/>
              </a:rPr>
              <a:t>How to access to the publications</a:t>
            </a:r>
            <a:endParaRPr lang="en-US" sz="3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endParaRPr>
          </a:p>
        </p:txBody>
      </p:sp>
      <p:sp>
        <p:nvSpPr>
          <p:cNvPr id="6" name="TextBox 5"/>
          <p:cNvSpPr txBox="1"/>
          <p:nvPr/>
        </p:nvSpPr>
        <p:spPr>
          <a:xfrm>
            <a:off x="-228600" y="1066800"/>
            <a:ext cx="8656535" cy="1200329"/>
          </a:xfrm>
          <a:prstGeom prst="rect">
            <a:avLst/>
          </a:prstGeom>
          <a:noFill/>
        </p:spPr>
        <p:txBody>
          <a:bodyPr wrap="square" rtlCol="0">
            <a:spAutoFit/>
          </a:bodyPr>
          <a:lstStyle/>
          <a:p>
            <a:pPr marL="530352" lvl="1"/>
            <a:r>
              <a:rPr lang="en-US" sz="2400" dirty="0"/>
              <a:t>- Via official gateway from your university</a:t>
            </a:r>
          </a:p>
          <a:p>
            <a:pPr marL="530352" lvl="1"/>
            <a:r>
              <a:rPr lang="en-US" sz="2400" dirty="0"/>
              <a:t>- </a:t>
            </a:r>
            <a:r>
              <a:rPr lang="en-US" sz="2400" dirty="0">
                <a:hlinkClick r:id="rId2"/>
              </a:rPr>
              <a:t>https://sci-hub.tw/</a:t>
            </a:r>
            <a:r>
              <a:rPr lang="en-US" sz="2400" dirty="0"/>
              <a:t> Search for the name of articles</a:t>
            </a:r>
          </a:p>
          <a:p>
            <a:pPr marL="530352" lvl="1"/>
            <a:r>
              <a:rPr lang="en-US" sz="2400" dirty="0"/>
              <a:t>- </a:t>
            </a:r>
            <a:r>
              <a:rPr lang="en-US" sz="2400" dirty="0">
                <a:hlinkClick r:id="rId3"/>
              </a:rPr>
              <a:t>http://gen.lib.rus.ec/</a:t>
            </a:r>
            <a:r>
              <a:rPr lang="en-US" sz="2400" dirty="0"/>
              <a:t> Search for the keyworks of books</a:t>
            </a:r>
          </a:p>
        </p:txBody>
      </p:sp>
    </p:spTree>
    <p:extLst>
      <p:ext uri="{BB962C8B-B14F-4D97-AF65-F5344CB8AC3E}">
        <p14:creationId xmlns:p14="http://schemas.microsoft.com/office/powerpoint/2010/main" val="107007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Image result for research is to see what everybody else has seen and to think what nobody else has thought">
            <a:extLst>
              <a:ext uri="{FF2B5EF4-FFF2-40B4-BE49-F238E27FC236}">
                <a16:creationId xmlns:a16="http://schemas.microsoft.com/office/drawing/2014/main" id="{D44095A5-09E8-4087-94C2-BA1274C690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77" y="524508"/>
            <a:ext cx="6486525" cy="305248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mage result for motivational research quotation">
            <a:extLst>
              <a:ext uri="{FF2B5EF4-FFF2-40B4-BE49-F238E27FC236}">
                <a16:creationId xmlns:a16="http://schemas.microsoft.com/office/drawing/2014/main" id="{15C7F6A4-6D9D-44D7-8282-A5AF6C7438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98699">
            <a:off x="4551024" y="3261731"/>
            <a:ext cx="4571998" cy="240029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every fool can know the point is to understand">
            <a:extLst>
              <a:ext uri="{FF2B5EF4-FFF2-40B4-BE49-F238E27FC236}">
                <a16:creationId xmlns:a16="http://schemas.microsoft.com/office/drawing/2014/main" id="{F3399360-6ECB-4DC7-BA64-1463EB995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174058">
            <a:off x="406293" y="3456426"/>
            <a:ext cx="4495955" cy="260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4473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f81dc8564d9f8870573ba47ad1c3611ac17d8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1114</TotalTime>
  <Words>501</Words>
  <Application>Microsoft Office PowerPoint</Application>
  <PresentationFormat>On-screen Show (4:3)</PresentationFormat>
  <Paragraphs>43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GIẢNG MÔN KINH DOANH QUỐC TẾ</dc:title>
  <dc:creator>Le Hoang Long</dc:creator>
  <cp:lastModifiedBy>Long Le Hoang</cp:lastModifiedBy>
  <cp:revision>78</cp:revision>
  <dcterms:created xsi:type="dcterms:W3CDTF">2006-08-16T00:00:00Z</dcterms:created>
  <dcterms:modified xsi:type="dcterms:W3CDTF">2020-08-10T03:43:46Z</dcterms:modified>
</cp:coreProperties>
</file>